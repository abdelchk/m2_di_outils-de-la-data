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OUTILS DE LA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Master 2 - Data Intelligence</a:t>
            </a:r>
          </a:p>
          <a:p>
            <a:r>
              <a:t>Formateur : Abid Hamza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BIENVENUE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Bienvenue dans cette formation sur les Outils de la Data !</a:t>
            </a:r>
            <a:br/>
            <a:r>
              <a:t>Je suis Abid Hamza, votre formateur.</a:t>
            </a:r>
            <a:br/>
            <a:r>
              <a:t>Cette formation vous permettra de maîtriser les outils essentiels pour travailler avec les données.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PRÉSENTATION DU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Comprendre l'écosystème des outils de données</a:t>
            </a:r>
            <a:br/>
            <a:r>
              <a:t>• Maîtriser les outils open source professionnels</a:t>
            </a:r>
            <a:br/>
            <a:r>
              <a:t>• Créer des dashboards et visualisations</a:t>
            </a:r>
            <a:br/>
            <a:r>
              <a:t>• Construire des pipelines de données</a:t>
            </a:r>
            <a:br/>
            <a:r>
              <a:t>• Choisir les bons outils selon le contexte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PLAN DU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Introduction aux outils de la data</a:t>
            </a:r>
            <a:br/>
            <a:r>
              <a:t>Écosystème des outils de données</a:t>
            </a:r>
            <a:br/>
            <a:r>
              <a:t>Outils de collecte et ingestion</a:t>
            </a:r>
            <a:br/>
            <a:r>
              <a:t>Outils de stockage</a:t>
            </a:r>
            <a:br/>
            <a:r>
              <a:t>Outils de traitement et transformation</a:t>
            </a:r>
            <a:br/>
            <a:r>
              <a:t>Outils d'analyse et visualisation</a:t>
            </a:r>
            <a:br/>
            <a:r>
              <a:t>Outils de machine learning</a:t>
            </a:r>
            <a:br/>
            <a:r>
              <a:t>Outils de déploiement et orchestration</a:t>
            </a:r>
            <a:br/>
            <a:r>
              <a:t>Choix des outils selon le contexte</a:t>
            </a:r>
            <a:br/>
            <a:r>
              <a:t>Bonnes pratiques et recommandations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POURQUOI LES OUTILS DE DATA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Chaque jour, des milliards de données sont créées</a:t>
            </a:r>
            <a:br/>
            <a:r>
              <a:t>• Les entreprises ont besoin d'exploiter ces données</a:t>
            </a:r>
            <a:br/>
            <a:r>
              <a:t>• Les outils manuels ne suffisent plus</a:t>
            </a:r>
            <a:br/>
            <a:r>
              <a:t>• Il faut des outils spécialisés et performants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LES 4 V DU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Exemple : Des téraoctets ou pétaoctets de données</a:t>
            </a:r>
            <a:br/>
            <a:r>
              <a:t>• Structurées : Tables SQL</a:t>
            </a:r>
            <a:br/>
            <a:r>
              <a:t>• Semi-structurées : JSON, XML</a:t>
            </a:r>
            <a:br/>
            <a:r>
              <a:t>• Non structurées : Textes, images, vidéos</a:t>
            </a:r>
            <a:br/>
            <a:r>
              <a:t>• Données en temps réel</a:t>
            </a:r>
            <a:br/>
            <a:r>
              <a:t>• Traitement continu</a:t>
            </a:r>
            <a:br/>
            <a:r>
              <a:t>• Prédictions</a:t>
            </a:r>
            <a:br/>
            <a:r>
              <a:t>• Recommandations</a:t>
            </a:r>
            <a:br/>
            <a:r>
              <a:t>• Décisions stratégiques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 DÉFI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DONNÉES BRUTES (Sources)        │</a:t>
            </a:r>
            <a:br/>
            <a:r>
              <a:t>│  - APIs, fichiers, bases de données │</a:t>
            </a:r>
            <a:br/>
            <a:r>
              <a:t>│  - Formats variés, volumes importants│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  COLLECTE ET INGESTION       │</a:t>
            </a:r>
            <a:br/>
            <a:r>
              <a:t>│  - Extraire les données             │</a:t>
            </a:r>
            <a:br/>
            <a:r>
              <a:t>│  - Les charger dans un système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      STOCKAGE                 │</a:t>
            </a:r>
            <a:br/>
            <a:r>
              <a:t>│  - Data Warehouse                   │</a:t>
            </a:r>
            <a:br/>
            <a:r>
              <a:t>│  - Data Lake                        │</a:t>
            </a:r>
            <a:br/>
            <a:r>
              <a:t>│  - Bases de données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OBJECTIFS DE CE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À la fin de cette formation, vous serez capable de :</a:t>
            </a:r>
            <a:br/>
            <a:r>
              <a:t>**Identifier** les outils adaptés à chaque situation</a:t>
            </a:r>
            <a:br/>
            <a:r>
              <a:t>**Installer** et configurer des outils open source</a:t>
            </a:r>
            <a:br/>
            <a:r>
              <a:t>**Utiliser** les outils pour analyser des données</a:t>
            </a:r>
            <a:br/>
            <a:r>
              <a:t>**Créer** des dashboards et visualisations</a:t>
            </a:r>
            <a:br/>
            <a:r>
              <a:t>**Construire** des pipelines de données complets</a:t>
            </a:r>
            <a:br/>
            <a:r>
              <a:t>**Choisir** les bons outils selon le contexte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ARCHITECTURE D'UN PIPELINE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┌──────────────────────────────────────────────┐</a:t>
            </a:r>
            <a:br/>
            <a:r>
              <a:t>│           SOURCES DE DONNÉES                 │</a:t>
            </a:r>
            <a:br/>
            <a:r>
              <a:t>│  ┌──────────┐  ┌──────────┐  ┌──────────┐  │</a:t>
            </a:r>
            <a:br/>
            <a:r>
              <a:t>│  │   APIs   │  │  Fichiers │  │   Bases  │  │</a:t>
            </a:r>
            <a:br/>
            <a:r>
              <a:t>│  │          │  │  (CSV...) │  │  données │  │</a:t>
            </a:r>
            <a:br/>
            <a:r>
              <a:t>│  └──────────┘  └──────────┘  └──────────┘  │</a:t>
            </a:r>
            <a:br/>
            <a:r>
              <a:t>└──────────────┬───────────────────────────────┘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┌──────────────────────────────────────────────┐</a:t>
            </a:r>
            <a:br/>
            <a:r>
              <a:t>│         INGESTION (ETL/ELT)                  │</a:t>
            </a:r>
            <a:br/>
            <a:r>
              <a:t>│  - Extraction des données                    │</a:t>
            </a:r>
            <a:br/>
            <a:r>
              <a:t>│  - Transformation                            │</a:t>
            </a:r>
            <a:br/>
            <a:r>
              <a:t>│  - Chargement                                │</a:t>
            </a:r>
            <a:br/>
            <a:r>
              <a:t>└──────────────┬───────────────────────────────┘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┌──────────────────────────────────────────────┐</a:t>
            </a:r>
            <a:br/>
            <a:r>
              <a:t>│            STOCKAGE                          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CATÉGORIES D'OUTILS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Extraction depuis APIs</a:t>
            </a:r>
            <a:br/>
            <a:r>
              <a:t>• Web scraping</a:t>
            </a:r>
            <a:br/>
            <a:r>
              <a:t>• ETL/ELT pipelines</a:t>
            </a:r>
            <a:br/>
            <a:r>
              <a:t>• Bases de données relationnelles</a:t>
            </a:r>
            <a:br/>
            <a:r>
              <a:t>• Data Warehouses</a:t>
            </a:r>
            <a:br/>
            <a:r>
              <a:t>• Data Lakes</a:t>
            </a:r>
            <a:br/>
            <a:r>
              <a:t>• Bases NoSQL</a:t>
            </a:r>
            <a:br/>
            <a:r>
              <a:t>• Batch processing</a:t>
            </a:r>
            <a:br/>
            <a:r>
              <a:t>• Stream processing</a:t>
            </a:r>
            <a:br/>
            <a:r>
              <a:t>• Transformation</a:t>
            </a:r>
            <a:br/>
            <a:r>
              <a:t>• Business Intelligence</a:t>
            </a:r>
            <a:br/>
            <a:r>
              <a:t>• Analytics</a:t>
            </a:r>
            <a:br/>
            <a:r>
              <a:t>• Reporting</a:t>
            </a:r>
            <a:br/>
            <a:r>
              <a:t>• Frameworks ML</a:t>
            </a:r>
            <a:br/>
            <a:r>
              <a:t>• MLOps</a:t>
            </a:r>
            <a:br/>
            <a:r>
              <a:t>• AutoML</a:t>
            </a:r>
            <a:br/>
            <a:r>
              <a:t>• Workflow management</a:t>
            </a:r>
            <a:br/>
            <a:r>
              <a:t>• Scheduling</a:t>
            </a:r>
            <a:br/>
            <a:r>
              <a:t>• Monitoring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OUTILS DE COLLECTE -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Application → API REST → Données JSON/XML</a:t>
            </a:r>
            <a:br/>
            <a:r>
              <a:t>↓</a:t>
            </a:r>
            <a:br/>
            <a:r>
              <a:t>Transformation</a:t>
            </a:r>
            <a:br/>
            <a:r>
              <a:t>↓</a:t>
            </a:r>
            <a:br/>
            <a:r>
              <a:t>Stockage</a:t>
            </a:r>
            <a:br/>
            <a:r>
              <a:t>```</a:t>
            </a:r>
            <a:br/>
            <a:r>
              <a:t>• `requests` : Bibliothèque simple pour requêtes HTTP</a:t>
            </a:r>
            <a:br/>
            <a:r>
              <a:t>• `pandas` : Manipulation de données</a:t>
            </a:r>
            <a:br/>
            <a:r>
              <a:t>• `json` : Parsing JSON</a:t>
            </a:r>
            <a:br/>
            <a:r>
              <a:t>```python</a:t>
            </a:r>
            <a:br/>
            <a:r>
              <a:t>import requests</a:t>
            </a:r>
            <a:br/>
            <a:r>
              <a:t>response = requests.get('https://api.example.com/data')</a:t>
            </a:r>
            <a:br/>
            <a:r>
              <a:t>data = response.json()</a:t>
            </a:r>
            <a:br/>
            <a:r>
              <a:t>```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OUTILS DE COLLECTE -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Site Web → Scraper → Données structurées</a:t>
            </a:r>
            <a:br/>
            <a:r>
              <a:t>```</a:t>
            </a:r>
            <a:br/>
            <a:r>
              <a:t>• **BeautifulSoup** : Parsing HTML simple</a:t>
            </a:r>
            <a:br/>
            <a:r>
              <a:t>• **Scrapy** : Framework complet pour scraping à grande échelle</a:t>
            </a:r>
            <a:br/>
            <a:r>
              <a:t>• **Selenium** : Automatisation de navigateur</a:t>
            </a:r>
            <a:br/>
            <a:r>
              <a:t>• Collecte de prix</a:t>
            </a:r>
            <a:br/>
            <a:r>
              <a:t>• Extraction d'articles</a:t>
            </a:r>
            <a:br/>
            <a:r>
              <a:t>• Monitoring de sites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OUTILS ETL/ELT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Orchestration de workflows</a:t>
            </a:r>
            <a:br/>
            <a:r>
              <a:t>• Interface web</a:t>
            </a:r>
            <a:br/>
            <a:r>
              <a:t>• Gestion des dépendances</a:t>
            </a:r>
            <a:br/>
            <a:r>
              <a:t>• Open source</a:t>
            </a:r>
            <a:br/>
            <a:r>
              <a:t>• Plateforme ETL complète</a:t>
            </a:r>
            <a:br/>
            <a:r>
              <a:t>• Interface graphique</a:t>
            </a:r>
            <a:br/>
            <a:r>
              <a:t>• Connecteurs multiples</a:t>
            </a:r>
            <a:br/>
            <a:r>
              <a:t>• Ingestion en temps réel</a:t>
            </a:r>
            <a:br/>
            <a:r>
              <a:t>• Interface de flux visuelle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SCHÉMA D'INGESTION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SOURCES MULTIPLES              │</a:t>
            </a:r>
            <a:br/>
            <a:r>
              <a:t>│                                     │</a:t>
            </a:r>
            <a:br/>
            <a:r>
              <a:t>│  ┌──────┐  ┌──────┐  ┌──────┐      │</a:t>
            </a:r>
            <a:br/>
            <a:r>
              <a:t>│  │ APIs │  │Files │  │  DBs │      │</a:t>
            </a:r>
            <a:br/>
            <a:r>
              <a:t>│  └──┬───┘  └──┬───┘  └──┬───┘      │</a:t>
            </a:r>
            <a:br/>
            <a:r>
              <a:t>│     │         │         │          │</a:t>
            </a:r>
            <a:br/>
            <a:r>
              <a:t>│     └─────┬───┴─────┬───┘          │</a:t>
            </a:r>
            <a:br/>
            <a:r>
              <a:t>│           │         │              │</a:t>
            </a:r>
            <a:br/>
            <a:r>
              <a:t>└───────────┼─────────┼──────────────┘</a:t>
            </a:r>
            <a:br/>
            <a:r>
              <a:t>│         │</a:t>
            </a:r>
            <a:br/>
            <a:r>
              <a:t>↓         ↓</a:t>
            </a:r>
            <a:br/>
            <a:r>
              <a:t>┌───────────────┐</a:t>
            </a:r>
            <a:br/>
            <a:r>
              <a:t>│  ETL/ELT      │</a:t>
            </a:r>
            <a:br/>
            <a:r>
              <a:t>│  Pipeline     │</a:t>
            </a:r>
            <a:br/>
            <a:r>
              <a:t>└───────┬───────┘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BASES DE DONNÉES RELATIONNELLES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Open source et robuste</a:t>
            </a:r>
            <a:br/>
            <a:r>
              <a:t>• Support JSON, arrays</a:t>
            </a:r>
            <a:br/>
            <a:r>
              <a:t>• Extensions puissantes</a:t>
            </a:r>
            <a:br/>
            <a:r>
              <a:t>• Excellent pour applications complexes</a:t>
            </a:r>
            <a:br/>
            <a:r>
              <a:t>• Très populaire</a:t>
            </a:r>
            <a:br/>
            <a:r>
              <a:t>• Performant pour lectures</a:t>
            </a:r>
            <a:br/>
            <a:r>
              <a:t>• Facile à administrer</a:t>
            </a:r>
            <a:br/>
            <a:r>
              <a:t>• Standard du web</a:t>
            </a:r>
            <a:br/>
            <a:r>
              <a:t>• Solution Microsoft</a:t>
            </a:r>
            <a:br/>
            <a:r>
              <a:t>• BI intégré</a:t>
            </a:r>
            <a:br/>
            <a:r>
              <a:t>• Support entreprise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 WAREHOUSES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Cloud-native</a:t>
            </a:r>
            <a:br/>
            <a:r>
              <a:t>• Séparation stockage/compute</a:t>
            </a:r>
            <a:br/>
            <a:r>
              <a:t>• Scaling automatique</a:t>
            </a:r>
            <a:br/>
            <a:r>
              <a:t>• Pay-as-you-go</a:t>
            </a:r>
            <a:br/>
            <a:r>
              <a:t>• Serverless</a:t>
            </a:r>
            <a:br/>
            <a:r>
              <a:t>• Analytics intégré</a:t>
            </a:r>
            <a:br/>
            <a:r>
              <a:t>• ML intégré</a:t>
            </a:r>
            <a:br/>
            <a:r>
              <a:t>• Pas de maintenance</a:t>
            </a:r>
            <a:br/>
            <a:r>
              <a:t>• Data warehouse cloud AWS</a:t>
            </a:r>
            <a:br/>
            <a:r>
              <a:t>• Performances élevées</a:t>
            </a:r>
            <a:br/>
            <a:r>
              <a:t>• Intégration AWS native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 LAKES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Stockage distribué</a:t>
            </a:r>
            <a:br/>
            <a:r>
              <a:t>• Écosystème Hadoop</a:t>
            </a:r>
            <a:br/>
            <a:r>
              <a:t>• Open source</a:t>
            </a:r>
            <a:br/>
            <a:r>
              <a:t>• Scalable horizontalement</a:t>
            </a:r>
            <a:br/>
            <a:r>
              <a:t>• Stockage objet</a:t>
            </a:r>
            <a:br/>
            <a:r>
              <a:t>• Scalabilité infinie</a:t>
            </a:r>
            <a:br/>
            <a:r>
              <a:t>• Durabilité 99.999999999%</a:t>
            </a:r>
            <a:br/>
            <a:r>
              <a:t>• Coût très faible</a:t>
            </a:r>
            <a:br/>
            <a:r>
              <a:t>• Solution Microsoft</a:t>
            </a:r>
            <a:br/>
            <a:r>
              <a:t>• Analytics intégré</a:t>
            </a:r>
            <a:br/>
            <a:r>
              <a:t>• Sécurité avancée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BASES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Orienté documents (JSON-like)</a:t>
            </a:r>
            <a:br/>
            <a:r>
              <a:t>• Schéma flexible</a:t>
            </a:r>
            <a:br/>
            <a:r>
              <a:t>• Excellent pour données non structurées</a:t>
            </a:r>
            <a:br/>
            <a:r>
              <a:t>• Scaling horizontal</a:t>
            </a:r>
            <a:br/>
            <a:r>
              <a:t>• Wide-column store</a:t>
            </a:r>
            <a:br/>
            <a:r>
              <a:t>• Haute disponibilité</a:t>
            </a:r>
            <a:br/>
            <a:r>
              <a:t>• Pas de point de défaillance</a:t>
            </a:r>
            <a:br/>
            <a:r>
              <a:t>• Idéal pour time-series</a:t>
            </a:r>
            <a:br/>
            <a:r>
              <a:t>• In-memory database</a:t>
            </a:r>
            <a:br/>
            <a:r>
              <a:t>• Très rapide</a:t>
            </a:r>
            <a:br/>
            <a:r>
              <a:t>• Cache et sessions</a:t>
            </a:r>
            <a:br/>
            <a:r>
              <a:t>• Structures de données avancées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GUIDE DE CHOIX DE STOCKAGE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Type de données structurées ?     │</a:t>
            </a:r>
            <a:br/>
            <a:r>
              <a:t>│   → OUI → SQL (PostgreSQL, MySQL)   │</a:t>
            </a:r>
            <a:br/>
            <a:r>
              <a:t>└─────────────────────────────────────┘</a:t>
            </a:r>
            <a:br/>
            <a:r>
              <a:t>│</a:t>
            </a:r>
            <a:br/>
            <a:r>
              <a:t>↓ NON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Données semi-structurées ?        │</a:t>
            </a:r>
            <a:br/>
            <a:r>
              <a:t>│   → OUI → NoSQL (MongoDB)          │</a:t>
            </a:r>
            <a:br/>
            <a:r>
              <a:t>└─────────────────────────────────────┘</a:t>
            </a:r>
            <a:br/>
            <a:r>
              <a:t>│</a:t>
            </a:r>
            <a:br/>
            <a:r>
              <a:t>↓ NON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Besoin d'analytics ?              │</a:t>
            </a:r>
            <a:br/>
            <a:r>
              <a:t>│   → OUI → Data Warehouse           │</a:t>
            </a:r>
            <a:br/>
            <a:r>
              <a:t>└─────────────────────────────────────┘</a:t>
            </a:r>
            <a:br/>
            <a:r>
              <a:t>│</a:t>
            </a:r>
            <a:br/>
            <a:r>
              <a:t>↓ NON</a:t>
            </a:r>
            <a:br/>
            <a:r>
              <a:t>┌─────────────────────────────────────┐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TRAITEMENT BATCH -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Traitement distribué à grande échelle</a:t>
            </a:r>
            <a:br/>
            <a:r>
              <a:t>• Support Python, Scala, Java, R</a:t>
            </a:r>
            <a:br/>
            <a:r>
              <a:t>• MLlib pour machine learning</a:t>
            </a:r>
            <a:br/>
            <a:r>
              <a:t>• Streaming intégré</a:t>
            </a:r>
            <a:br/>
            <a:r>
              <a:t>• Très performant</a:t>
            </a:r>
            <a:br/>
            <a:r>
              <a:t>```</a:t>
            </a:r>
            <a:br/>
            <a:r>
              <a:t>Driver → Cluster Manager → Workers</a:t>
            </a:r>
            <a:br/>
            <a:r>
              <a:t>↓</a:t>
            </a:r>
            <a:br/>
            <a:r>
              <a:t>Traitement distribué</a:t>
            </a:r>
            <a:br/>
            <a:r>
              <a:t>sur plusieurs machines</a:t>
            </a:r>
            <a:br/>
            <a:r>
              <a:t>```</a:t>
            </a:r>
            <a:br/>
            <a:r>
              <a:t>• Traite des téraoctets de données</a:t>
            </a:r>
            <a:br/>
            <a:r>
              <a:t>• Tolérance aux pannes</a:t>
            </a:r>
            <a:br/>
            <a:r>
              <a:t>• In-memory processing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TRAITEMENT BATCH -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Bibliothèque Python standard</a:t>
            </a:r>
            <a:br/>
            <a:r>
              <a:t>• Manipulation de données intuitive</a:t>
            </a:r>
            <a:br/>
            <a:r>
              <a:t>• Nombreuses fonctions intégrées</a:t>
            </a:r>
            <a:br/>
            <a:r>
              <a:t>• Excellent pour données &lt; 10GB</a:t>
            </a:r>
            <a:br/>
            <a:r>
              <a:t>• Lecture/écriture de fichiers</a:t>
            </a:r>
            <a:br/>
            <a:r>
              <a:t>• Filtrage et sélection</a:t>
            </a:r>
            <a:br/>
            <a:r>
              <a:t>• Agrégations</a:t>
            </a:r>
            <a:br/>
            <a:r>
              <a:t>• Jointures</a:t>
            </a:r>
            <a:br/>
            <a:r>
              <a:t>• Transformations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TRAITEMENT STREAMING -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Message broker distribué</a:t>
            </a:r>
            <a:br/>
            <a:r>
              <a:t>• Haute performance (millions msg/sec)</a:t>
            </a:r>
            <a:br/>
            <a:r>
              <a:t>• Durabilité des messages</a:t>
            </a:r>
            <a:br/>
            <a:r>
              <a:t>• Scalable horizontalement</a:t>
            </a:r>
            <a:br/>
            <a:r>
              <a:t>```</a:t>
            </a:r>
            <a:br/>
            <a:r>
              <a:t>Producers → Kafka Cluster → Consumers</a:t>
            </a:r>
            <a:br/>
            <a:r>
              <a:t>↓</a:t>
            </a:r>
            <a:br/>
            <a:r>
              <a:t>Topics (partitions)</a:t>
            </a:r>
            <a:br/>
            <a:r>
              <a:t>```</a:t>
            </a:r>
            <a:br/>
            <a:r>
              <a:t>• Event streaming</a:t>
            </a:r>
            <a:br/>
            <a:r>
              <a:t>• Log aggregation</a:t>
            </a:r>
            <a:br/>
            <a:r>
              <a:t>• Real-time analytics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TRAITEMENT STREAMING - FLINK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Stream processing avancé</a:t>
            </a:r>
            <a:br/>
            <a:r>
              <a:t>• Event time processing</a:t>
            </a:r>
            <a:br/>
            <a:r>
              <a:t>• Faible latence</a:t>
            </a:r>
            <a:br/>
            <a:r>
              <a:t>• State management</a:t>
            </a:r>
            <a:br/>
            <a:r>
              <a:t>• Traitement en temps réel</a:t>
            </a:r>
            <a:br/>
            <a:r>
              <a:t>• Gestion d'état</a:t>
            </a:r>
            <a:br/>
            <a:r>
              <a:t>• Exactly-once semantics</a:t>
            </a:r>
            <a:br/>
            <a:r>
              <a:t>• Windowing avancé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OUTILS DE TRANSFORMATION - DBT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Transformation SQL uniquement</a:t>
            </a:r>
            <a:br/>
            <a:r>
              <a:t>• Versioning avec Git</a:t>
            </a:r>
            <a:br/>
            <a:r>
              <a:t>• Testing intégré</a:t>
            </a:r>
            <a:br/>
            <a:r>
              <a:t>• Documentation automatique</a:t>
            </a:r>
            <a:br/>
            <a:r>
              <a:t>• Workflow moderne</a:t>
            </a:r>
            <a:br/>
            <a:r>
              <a:t>```</a:t>
            </a:r>
            <a:br/>
            <a:r>
              <a:t>Sources → Staging → Intermediate → Marts</a:t>
            </a:r>
            <a:br/>
            <a:r>
              <a:t>```</a:t>
            </a:r>
            <a:br/>
            <a:r>
              <a:t>• Code SQL réutilisable</a:t>
            </a:r>
            <a:br/>
            <a:r>
              <a:t>• Tests automatiques</a:t>
            </a:r>
            <a:br/>
            <a:r>
              <a:t>• Documentation générée</a:t>
            </a:r>
            <a:br/>
            <a:r>
              <a:t>• Collaboration facilitée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SCHÉMA DE 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  DONNÉES BRUTES        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┌──────┴──────┐</a:t>
            </a:r>
            <a:br/>
            <a:r>
              <a:t>↓             ↓</a:t>
            </a:r>
            <a:br/>
            <a:r>
              <a:t>┌──────────────┐  ┌──────────────┐</a:t>
            </a:r>
            <a:br/>
            <a:r>
              <a:t>│    BATCH     │  │   STREAMING  │</a:t>
            </a:r>
            <a:br/>
            <a:r>
              <a:t>│              │  │              │</a:t>
            </a:r>
            <a:br/>
            <a:r>
              <a:t>│  - Spark     │  │  - Kafka     │</a:t>
            </a:r>
            <a:br/>
            <a:r>
              <a:t>│  - Pandas    │  │  - Flink     │</a:t>
            </a:r>
            <a:br/>
            <a:r>
              <a:t>│  - Dask      │  │  - Storm     │</a:t>
            </a:r>
            <a:br/>
            <a:r>
              <a:t>│              │  │              │</a:t>
            </a:r>
            <a:br/>
            <a:r>
              <a:t>│  Périodique  │  │  Temps réel  │</a:t>
            </a:r>
            <a:br/>
            <a:r>
              <a:t>└──────┬───────┘  └──────┬───────┘</a:t>
            </a:r>
            <a:br/>
            <a:r>
              <a:t>│                 │</a:t>
            </a:r>
            <a:br/>
            <a:r>
              <a:t>└────────┬────────┘</a:t>
            </a:r>
            <a:br/>
            <a:r>
              <a:t>↓</a:t>
            </a:r>
            <a:br/>
            <a:r>
              <a:t>┌─────────────────┐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BUSINESS INTELLIGENCE -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Visualisations avancées</a:t>
            </a:r>
            <a:br/>
            <a:r>
              <a:t>• Dashboards interactifs</a:t>
            </a:r>
            <a:br/>
            <a:r>
              <a:t>• Connecteurs multiples</a:t>
            </a:r>
            <a:br/>
            <a:r>
              <a:t>• Self-service BI</a:t>
            </a:r>
            <a:br/>
            <a:r>
              <a:t>• Leader du marché</a:t>
            </a:r>
            <a:br/>
            <a:r>
              <a:t>• Interface intuitive</a:t>
            </a:r>
            <a:br/>
            <a:r>
              <a:t>• Visualisations puissantes</a:t>
            </a:r>
            <a:br/>
            <a:r>
              <a:t>• Partage facile</a:t>
            </a:r>
            <a:br/>
            <a:r>
              <a:t>• Mobile support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BUSINESS INTELLIGENCE -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Intégration Office 365</a:t>
            </a:r>
            <a:br/>
            <a:r>
              <a:t>• Self-service BI</a:t>
            </a:r>
            <a:br/>
            <a:r>
              <a:t>• Cloud et on-premise</a:t>
            </a:r>
            <a:br/>
            <a:r>
              <a:t>• Prix compétitif</a:t>
            </a:r>
            <a:br/>
            <a:r>
              <a:t>• Intégration Microsoft</a:t>
            </a:r>
            <a:br/>
            <a:r>
              <a:t>• Facile à apprendre</a:t>
            </a:r>
            <a:br/>
            <a:r>
              <a:t>• Version gratuite disponible</a:t>
            </a:r>
            <a:br/>
            <a:r>
              <a:t>• Large communauté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BI OPEN SOURCE - APACHE SUPERSET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Open source et gratuit</a:t>
            </a:r>
            <a:br/>
            <a:r>
              <a:t>• Dashboards interactifs</a:t>
            </a:r>
            <a:br/>
            <a:r>
              <a:t>• Support SQL natif</a:t>
            </a:r>
            <a:br/>
            <a:r>
              <a:t>• Nombreux types de visualisations</a:t>
            </a:r>
            <a:br/>
            <a:r>
              <a:t>• Développé par Airbnb</a:t>
            </a:r>
            <a:br/>
            <a:r>
              <a:t>```bash</a:t>
            </a:r>
            <a:br/>
            <a:r>
              <a:t>docker run -d -p 8088:8088 apache/superset</a:t>
            </a:r>
            <a:br/>
            <a:r>
              <a:t>```</a:t>
            </a:r>
            <a:br/>
            <a:r>
              <a:t>• Gratuit</a:t>
            </a:r>
            <a:br/>
            <a:r>
              <a:t>• Puissant</a:t>
            </a:r>
            <a:br/>
            <a:r>
              <a:t>• Communauté active</a:t>
            </a:r>
            <a:br/>
            <a:r>
              <a:t>• Extensible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BI OPEN SOURCE - METABASE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Simple à utiliser</a:t>
            </a:r>
            <a:br/>
            <a:r>
              <a:t>• Self-service pour non-techniques</a:t>
            </a:r>
            <a:br/>
            <a:r>
              <a:t>• Open source</a:t>
            </a:r>
            <a:br/>
            <a:r>
              <a:t>• Installation facile</a:t>
            </a:r>
            <a:br/>
            <a:r>
              <a:t>• Interface intuitive</a:t>
            </a:r>
            <a:br/>
            <a:r>
              <a:t>• Questions sans code</a:t>
            </a:r>
            <a:br/>
            <a:r>
              <a:t>• Partage facile</a:t>
            </a:r>
            <a:br/>
            <a:r>
              <a:t>• Version cloud disponible</a:t>
            </a:r>
            <a:br/>
            <a:r>
              <a:t>```bash</a:t>
            </a:r>
            <a:br/>
            <a:r>
              <a:t>docker run -d -p 3000:3000 metabase/metabase</a:t>
            </a:r>
            <a:br/>
            <a:r>
              <a:t>```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MONITORING - 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Monitoring et observabilité</a:t>
            </a:r>
            <a:br/>
            <a:r>
              <a:t>• Excellent pour time-series</a:t>
            </a:r>
            <a:br/>
            <a:r>
              <a:t>• Alerting intégré</a:t>
            </a:r>
            <a:br/>
            <a:r>
              <a:t>• Nombreux plugins</a:t>
            </a:r>
            <a:br/>
            <a:r>
              <a:t>• Standard pour le monitoring</a:t>
            </a:r>
            <a:br/>
            <a:r>
              <a:t>• Monitoring d'applications</a:t>
            </a:r>
            <a:br/>
            <a:r>
              <a:t>• Métriques système</a:t>
            </a:r>
            <a:br/>
            <a:r>
              <a:t>• Dashboards opérationnels</a:t>
            </a:r>
            <a:br/>
            <a:r>
              <a:t>• Alertes automatiques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VISUALISATION PYTHON -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Bibliothèque de base Python</a:t>
            </a:r>
            <a:br/>
            <a:r>
              <a:t>• Très flexible</a:t>
            </a:r>
            <a:br/>
            <a:r>
              <a:t>• Standard de facto</a:t>
            </a:r>
            <a:br/>
            <a:r>
              <a:t>• Contrôle total</a:t>
            </a:r>
            <a:br/>
            <a:r>
              <a:t>• Lignes, barres, camemberts</a:t>
            </a:r>
            <a:br/>
            <a:r>
              <a:t>• Scatter plots</a:t>
            </a:r>
            <a:br/>
            <a:r>
              <a:t>• Histogrammes</a:t>
            </a:r>
            <a:br/>
            <a:r>
              <a:t>• 3D</a:t>
            </a:r>
            <a:br/>
            <a:r>
              <a:t>```python</a:t>
            </a:r>
            <a:br/>
            <a:r>
              <a:t>import matplotlib.pyplot as plt</a:t>
            </a:r>
            <a:br/>
            <a:r>
              <a:t>plt.plot(x, y)</a:t>
            </a:r>
            <a:br/>
            <a:r>
              <a:t>plt.show()</a:t>
            </a:r>
            <a:br/>
            <a:r>
              <a:t>```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VISUALISATION PYTHON - PLOTLY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Visualisations interactives</a:t>
            </a:r>
            <a:br/>
            <a:r>
              <a:t>• Dashboards web</a:t>
            </a:r>
            <a:br/>
            <a:r>
              <a:t>• Support 3D et animations</a:t>
            </a:r>
            <a:br/>
            <a:r>
              <a:t>• Export facile</a:t>
            </a:r>
            <a:br/>
            <a:r>
              <a:t>• Interactivité</a:t>
            </a:r>
            <a:br/>
            <a:r>
              <a:t>• Beaux graphiques</a:t>
            </a:r>
            <a:br/>
            <a:r>
              <a:t>• Dashboards web</a:t>
            </a:r>
            <a:br/>
            <a:r>
              <a:t>• Version open source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SCHÉMA D'ANALYSE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DONNÉES PRÉPARÉES           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┌──────┴──────┐</a:t>
            </a:r>
            <a:br/>
            <a:r>
              <a:t>↓             ↓</a:t>
            </a:r>
            <a:br/>
            <a:r>
              <a:t>┌──────────────┐  ┌──────────────┐</a:t>
            </a:r>
            <a:br/>
            <a:r>
              <a:t>│ EXPLORATION  │  │ VISUALISATION│</a:t>
            </a:r>
            <a:br/>
            <a:r>
              <a:t>│              │  │              │</a:t>
            </a:r>
            <a:br/>
            <a:r>
              <a:t>│ - Jupyter    │  │ - Matplotlib │</a:t>
            </a:r>
            <a:br/>
            <a:r>
              <a:t>│ - Pandas     │  │ - Plotly     │</a:t>
            </a:r>
            <a:br/>
            <a:r>
              <a:t>│ - Stats      │  │ - Seaborn    │</a:t>
            </a:r>
            <a:br/>
            <a:r>
              <a:t>└──────┬───────┘  └──────┬───────┘</a:t>
            </a:r>
            <a:br/>
            <a:r>
              <a:t>│                 │</a:t>
            </a:r>
            <a:br/>
            <a:r>
              <a:t>└────────┬────────┘</a:t>
            </a:r>
            <a:br/>
            <a:r>
              <a:t>↓</a:t>
            </a:r>
            <a:br/>
            <a:r>
              <a:t>┌─────────────────┐</a:t>
            </a:r>
            <a:br/>
            <a:r>
              <a:t>│   DASHBOARDS    │</a:t>
            </a:r>
            <a:br/>
            <a:r>
              <a:t>│                 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MACHINE LEARNING - 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Machine learning Python</a:t>
            </a:r>
            <a:br/>
            <a:r>
              <a:t>• Algorithmes classiques complets</a:t>
            </a:r>
            <a:br/>
            <a:r>
              <a:t>• Interface uniforme</a:t>
            </a:r>
            <a:br/>
            <a:r>
              <a:t>• Facile à utiliser</a:t>
            </a:r>
            <a:br/>
            <a:r>
              <a:t>• Documentation excellente</a:t>
            </a:r>
            <a:br/>
            <a:r>
              <a:t>• Classification</a:t>
            </a:r>
            <a:br/>
            <a:r>
              <a:t>• Régression</a:t>
            </a:r>
            <a:br/>
            <a:r>
              <a:t>• Clustering</a:t>
            </a:r>
            <a:br/>
            <a:r>
              <a:t>• Réduction de dimensionnalité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MACHINE LEARNING -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Deep learning avancé</a:t>
            </a:r>
            <a:br/>
            <a:r>
              <a:t>• Production-ready</a:t>
            </a:r>
            <a:br/>
            <a:r>
              <a:t>• TensorBoard pour visualisation</a:t>
            </a:r>
            <a:br/>
            <a:r>
              <a:t>• Support mobile</a:t>
            </a:r>
            <a:br/>
            <a:r>
              <a:t>• Large communauté</a:t>
            </a:r>
            <a:br/>
            <a:r>
              <a:t>• Réseaux de neurones</a:t>
            </a:r>
            <a:br/>
            <a:r>
              <a:t>• Computer vision</a:t>
            </a:r>
            <a:br/>
            <a:r>
              <a:t>• NLP</a:t>
            </a:r>
            <a:br/>
            <a:r>
              <a:t>• Recommandations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MACHINE LEARNING - PYTORCH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Deep learning</a:t>
            </a:r>
            <a:br/>
            <a:r>
              <a:t>• Research-friendly</a:t>
            </a:r>
            <a:br/>
            <a:r>
              <a:t>• Graph computation dynamique</a:t>
            </a:r>
            <a:br/>
            <a:r>
              <a:t>• Interface Python native</a:t>
            </a:r>
            <a:br/>
            <a:r>
              <a:t>• Très populaire en recherche</a:t>
            </a:r>
            <a:br/>
            <a:r>
              <a:t>• Flexible</a:t>
            </a:r>
            <a:br/>
            <a:r>
              <a:t>• Debugging facile</a:t>
            </a:r>
            <a:br/>
            <a:r>
              <a:t>• Adoption croissante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MLOPS - MLFLOW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Gestion d'expériences ML</a:t>
            </a:r>
            <a:br/>
            <a:r>
              <a:t>• Tracking des métriques</a:t>
            </a:r>
            <a:br/>
            <a:r>
              <a:t>• Versioning des modèles</a:t>
            </a:r>
            <a:br/>
            <a:r>
              <a:t>• Déploiement simplifié</a:t>
            </a:r>
            <a:br/>
            <a:r>
              <a:t>• Open source</a:t>
            </a:r>
            <a:br/>
            <a:r>
              <a:t>• Suivi des expériences</a:t>
            </a:r>
            <a:br/>
            <a:r>
              <a:t>• Comparaison de modèles</a:t>
            </a:r>
            <a:br/>
            <a:r>
              <a:t>• Reproducibilité</a:t>
            </a:r>
            <a:br/>
            <a:r>
              <a:t>• Déploiement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PIPELINE ML TYPIQUE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DONNÉES BRUTES            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ETL/ELT (Extraction, Transformation)│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FEATURE ENGINEERING               │</a:t>
            </a:r>
            <a:br/>
            <a:r>
              <a:t>│   - Sélection de features           │</a:t>
            </a:r>
            <a:br/>
            <a:r>
              <a:t>│   - Création de nouvelles features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MODÉLISATION                      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ORCHESTRATION - APACHE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DAGs (Directed Acyclic Graphs)</a:t>
            </a:r>
            <a:br/>
            <a:r>
              <a:t>• Scheduling flexible</a:t>
            </a:r>
            <a:br/>
            <a:r>
              <a:t>• Monitoring intégré</a:t>
            </a:r>
            <a:br/>
            <a:r>
              <a:t>• Extensible avec plugins</a:t>
            </a:r>
            <a:br/>
            <a:r>
              <a:t>• Interface web complète</a:t>
            </a:r>
            <a:br/>
            <a:r>
              <a:t>• Standard de l'industrie</a:t>
            </a:r>
            <a:br/>
            <a:r>
              <a:t>• DAG : Workflow défini</a:t>
            </a:r>
            <a:br/>
            <a:r>
              <a:t>• Task : Étape du workflow</a:t>
            </a:r>
            <a:br/>
            <a:r>
              <a:t>• Operator : Type de tâche</a:t>
            </a:r>
            <a:br/>
            <a:r>
              <a:t>• Scheduler : Exécution automatique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CONTAINERS -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Containerisation standard</a:t>
            </a:r>
            <a:br/>
            <a:r>
              <a:t>• Portabilité complète</a:t>
            </a:r>
            <a:br/>
            <a:r>
              <a:t>• Isolation des applications</a:t>
            </a:r>
            <a:br/>
            <a:r>
              <a:t>• Facile à utiliser</a:t>
            </a:r>
            <a:br/>
            <a:r>
              <a:t>• Écosystème riche</a:t>
            </a:r>
            <a:br/>
            <a:r>
              <a:t>• "Ça marche sur ma machine" → Résolu</a:t>
            </a:r>
            <a:br/>
            <a:r>
              <a:t>• Déploiement simplifié</a:t>
            </a:r>
            <a:br/>
            <a:r>
              <a:t>• Scalabilité</a:t>
            </a:r>
            <a:br/>
            <a:r>
              <a:t>• Isolation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ORCHESTRATION CONTAINERS -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Orchestration de containers</a:t>
            </a:r>
            <a:br/>
            <a:r>
              <a:t>• Auto-scaling</a:t>
            </a:r>
            <a:br/>
            <a:r>
              <a:t>• Haute disponibilité</a:t>
            </a:r>
            <a:br/>
            <a:r>
              <a:t>• Gestion du load balancing</a:t>
            </a:r>
            <a:br/>
            <a:r>
              <a:t>• Standard de l'industrie</a:t>
            </a:r>
            <a:br/>
            <a:r>
              <a:t>• Pod : Plus petit déploiement</a:t>
            </a:r>
            <a:br/>
            <a:r>
              <a:t>• Service : Point d'accès stable</a:t>
            </a:r>
            <a:br/>
            <a:r>
              <a:t>• Deployment : Gestion des pods</a:t>
            </a:r>
            <a:br/>
            <a:r>
              <a:t>• ReplicaSet : Réplication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CI/CD -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Intégration GitHub native</a:t>
            </a:r>
            <a:br/>
            <a:r>
              <a:t>• Automatisation complète</a:t>
            </a:r>
            <a:br/>
            <a:r>
              <a:t>• Gratuit pour open source</a:t>
            </a:r>
            <a:br/>
            <a:r>
              <a:t>• Nombreux templates</a:t>
            </a:r>
            <a:br/>
            <a:r>
              <a:t>• Facile à configurer</a:t>
            </a:r>
            <a:br/>
            <a:r>
              <a:t>```</a:t>
            </a:r>
            <a:br/>
            <a:r>
              <a:t>Code → Tests → Build → Deploy</a:t>
            </a:r>
            <a:br/>
            <a:r>
              <a:t>```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SCHÉMA D'ORCHESTRATION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CODE SOURCE (Git Repository)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CI/CD PIPELINE                    │</a:t>
            </a:r>
            <a:br/>
            <a:r>
              <a:t>│                                     │</a:t>
            </a:r>
            <a:br/>
            <a:r>
              <a:t>│   ┌──────┐  ┌──────┐  ┌──────┐    │</a:t>
            </a:r>
            <a:br/>
            <a:r>
              <a:t>│   │Tests │→ │Build │→ │Deploy│    │</a:t>
            </a:r>
            <a:br/>
            <a:r>
              <a:t>│   └──────┘  └──────┘  └──────┘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PRODUCTION                        │</a:t>
            </a:r>
            <a:br/>
            <a:r>
              <a:t>│                                     │</a:t>
            </a:r>
            <a:br/>
            <a:r>
              <a:t>│   ┌──────────────┐                 │</a:t>
            </a:r>
            <a:br/>
            <a:r>
              <a:t>│   │ Kubernetes   │                 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CRITÈRES DE SÉLECTION -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Pandas pour traitement</a:t>
            </a:r>
            <a:br/>
            <a:r>
              <a:t>• SQLite pour stockage</a:t>
            </a:r>
            <a:br/>
            <a:r>
              <a:t>• Jupyter pour analyse</a:t>
            </a:r>
            <a:br/>
            <a:r>
              <a:t>• Pas besoin de distribution</a:t>
            </a:r>
            <a:br/>
            <a:r>
              <a:t>• PostgreSQL/MySQL pour stockage</a:t>
            </a:r>
            <a:br/>
            <a:r>
              <a:t>• Pandas ou Dask pour traitement</a:t>
            </a:r>
            <a:br/>
            <a:r>
              <a:t>• Outils BI légers (Metabase, Superset)</a:t>
            </a:r>
            <a:br/>
            <a:r>
              <a:t>• Spark pour traitement</a:t>
            </a:r>
            <a:br/>
            <a:r>
              <a:t>• Data Warehouse (Snowflake, BigQuery)</a:t>
            </a:r>
            <a:br/>
            <a:r>
              <a:t>• Outils distribués nécessaires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CRITÈRES DE SÉLECTION - VÉLOCITÉ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Spark pour gros volumes</a:t>
            </a:r>
            <a:br/>
            <a:r>
              <a:t>• Airflow pour orchestration</a:t>
            </a:r>
            <a:br/>
            <a:r>
              <a:t>• Exécution périodique (quotidienne, hebdomadaire)</a:t>
            </a:r>
            <a:br/>
            <a:r>
              <a:t>• Kafka pour messaging</a:t>
            </a:r>
            <a:br/>
            <a:r>
              <a:t>• Flink pour stream processing</a:t>
            </a:r>
            <a:br/>
            <a:r>
              <a:t>• Traitement continu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CRITÈRES DE SÉLECTION -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PostgreSQL, Spark, Airflow</a:t>
            </a:r>
            <a:br/>
            <a:r>
              <a:t>• Superset, Metabase, Grafana</a:t>
            </a:r>
            <a:br/>
            <a:r>
              <a:t>• Scikit-learn, TensorFlow</a:t>
            </a:r>
            <a:br/>
            <a:r>
              <a:t>• Snowflake, Tableau, Power BI</a:t>
            </a:r>
            <a:br/>
            <a:r>
              <a:t>• Support et maintenance inclus</a:t>
            </a:r>
            <a:br/>
            <a:r>
              <a:t>• Fonctionnalités avancées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CRITÈRES DE SÉLECTION - COMPÉTENCES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Pandas, Scikit-learn</a:t>
            </a:r>
            <a:br/>
            <a:r>
              <a:t>• Airflow, dbt</a:t>
            </a:r>
            <a:br/>
            <a:r>
              <a:t>• Jupyter, Plotly</a:t>
            </a:r>
            <a:br/>
            <a:r>
              <a:t>• dbt, Data Warehouses</a:t>
            </a:r>
            <a:br/>
            <a:r>
              <a:t>• Superset, Metabase</a:t>
            </a:r>
            <a:br/>
            <a:r>
              <a:t>• SQL avancé</a:t>
            </a:r>
            <a:br/>
            <a:r>
              <a:t>• Power BI, Tableau</a:t>
            </a:r>
            <a:br/>
            <a:r>
              <a:t>• AutoML</a:t>
            </a:r>
            <a:br/>
            <a:r>
              <a:t>• Interfaces graphiques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MATRICE DE DÉCISION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| Besoin | Petit projet | Moyen projet | Grand projet |</a:t>
            </a:r>
            <a:br/>
            <a:r>
              <a:t>|--------|--------------|--------------|--------------|</a:t>
            </a:r>
            <a:br/>
            <a:r>
              <a:t>| Stockage | SQLite / PostgreSQL | PostgreSQL / MySQL | Data Warehouse |</a:t>
            </a:r>
            <a:br/>
            <a:r>
              <a:t>| Traitement | Pandas | Spark / Dask | Spark / Flink |</a:t>
            </a:r>
            <a:br/>
            <a:r>
              <a:t>| Analyse | Jupyter / Python | Superset / Metabase | Tableau / Power BI |</a:t>
            </a:r>
            <a:br/>
            <a:r>
              <a:t>| ML | Scikit-learn | Scikit-learn / XGBoost | TensorFlow / PyTorch |</a:t>
            </a:r>
            <a:br/>
            <a:r>
              <a:t>| Orchestration | Scripts Python | Airflow | Airflow / Kubeflow |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BONNES PRATIQUES -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Utiliser Git</a:t>
            </a:r>
            <a:br/>
            <a:r>
              <a:t>• Branches pour features</a:t>
            </a:r>
            <a:br/>
            <a:r>
              <a:t>• Commits descriptifs</a:t>
            </a:r>
            <a:br/>
            <a:r>
              <a:t>• Pull requests pour reviews</a:t>
            </a:r>
            <a:br/>
            <a:r>
              <a:t>• DVC (Data Version Control)</a:t>
            </a:r>
            <a:br/>
            <a:r>
              <a:t>• Snapshot des données importantes</a:t>
            </a:r>
            <a:br/>
            <a:r>
              <a:t>• Traçabilité des versions</a:t>
            </a:r>
            <a:br/>
            <a:r>
              <a:t>• MLflow pour versioning</a:t>
            </a:r>
            <a:br/>
            <a:r>
              <a:t>• Tags et métadonnées</a:t>
            </a:r>
            <a:br/>
            <a:r>
              <a:t>• Reproducibilité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BONNES PRATIQUES -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README complet</a:t>
            </a:r>
            <a:br/>
            <a:r>
              <a:t>• Docstrings pour fonctions</a:t>
            </a:r>
            <a:br/>
            <a:r>
              <a:t>• Commentaires pour logique complexe</a:t>
            </a:r>
            <a:br/>
            <a:r>
              <a:t>• Documentation des étapes</a:t>
            </a:r>
            <a:br/>
            <a:r>
              <a:t>• Schémas d'architecture</a:t>
            </a:r>
            <a:br/>
            <a:r>
              <a:t>• Guide d'utilisation</a:t>
            </a:r>
            <a:br/>
            <a:r>
              <a:t>• Documentation des features</a:t>
            </a:r>
            <a:br/>
            <a:r>
              <a:t>• Explication des choix</a:t>
            </a:r>
            <a:br/>
            <a:r>
              <a:t>• Résultats et métriques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BONNES PRATIQUES -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Tester chaque fonction</a:t>
            </a:r>
            <a:br/>
            <a:r>
              <a:t>• Couverture de code élevée</a:t>
            </a:r>
            <a:br/>
            <a:r>
              <a:t>• Tests automatisés</a:t>
            </a:r>
            <a:br/>
            <a:r>
              <a:t>• Tester les pipelines complets</a:t>
            </a:r>
            <a:br/>
            <a:r>
              <a:t>• Validation des données</a:t>
            </a:r>
            <a:br/>
            <a:r>
              <a:t>• Tests de performance</a:t>
            </a:r>
            <a:br/>
            <a:r>
              <a:t>• Validation des schémas</a:t>
            </a:r>
            <a:br/>
            <a:r>
              <a:t>• Détection d'anomalies</a:t>
            </a:r>
            <a:br/>
            <a:r>
              <a:t>• Tests de qualité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BONNES PRATIQUES -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Logs structurés (JSON)</a:t>
            </a:r>
            <a:br/>
            <a:r>
              <a:t>• Niveaux de log appropriés</a:t>
            </a:r>
            <a:br/>
            <a:r>
              <a:t>• Centralisation des logs</a:t>
            </a:r>
            <a:br/>
            <a:r>
              <a:t>• Métriques business</a:t>
            </a:r>
            <a:br/>
            <a:r>
              <a:t>• Métriques techniques</a:t>
            </a:r>
            <a:br/>
            <a:r>
              <a:t>• Dashboards de monitoring</a:t>
            </a:r>
            <a:br/>
            <a:r>
              <a:t>• Alertes sur erreurs critiques</a:t>
            </a:r>
            <a:br/>
            <a:r>
              <a:t>• Alertes sur anomalies</a:t>
            </a:r>
            <a:br/>
            <a:r>
              <a:t>• Notification appropriée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ARCHITECTURE RECOMMANDÉE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```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   SOURCES DE DONNÉES                 │</a:t>
            </a:r>
            <a:br/>
            <a:r>
              <a:t>│  (APIs, Bases de données, Fichiers)     │</a:t>
            </a:r>
            <a:br/>
            <a:r>
              <a:t>└──────────────┬──────────────────────────┘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   INGESTION (ETL/ELT)                 │</a:t>
            </a:r>
            <a:br/>
            <a:r>
              <a:t>│  (Airflow, NiFi, Scripts)                │</a:t>
            </a:r>
            <a:br/>
            <a:r>
              <a:t>└──────────────┬──────────────────────────┘</a:t>
            </a:r>
            <a:br/>
            <a:r>
              <a:t>│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STOCKAGE (Data Lake / Warehouse)     │</a:t>
            </a:r>
            <a:br/>
            <a:r>
              <a:t>│  (S3, HDFS, Snowflake, BigQuery)        │</a:t>
            </a:r>
            <a:br/>
            <a:r>
              <a:t>└──────────────┬──────────────────────────┘</a:t>
            </a:r>
            <a:br/>
            <a:r>
              <a:t>│</a:t>
            </a:r>
            <a:br/>
            <a:r>
              <a:t>┌──────┴──────┐</a:t>
            </a:r>
            <a:br/>
            <a:r>
              <a:t>↓             ↓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CHECKLIST DE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Avant de démarrer un projet de données :</a:t>
            </a:r>
            <a:br/>
            <a:r>
              <a:t>• [ ] Architecture définie et documentée</a:t>
            </a:r>
            <a:br/>
            <a:r>
              <a:t>• [ ] Outils sélectionnés selon le contexte</a:t>
            </a:r>
            <a:br/>
            <a:r>
              <a:t>• [ ] Environnement de développement configuré</a:t>
            </a:r>
            <a:br/>
            <a:r>
              <a:t>• [ ] Pipeline de données fonctionnel</a:t>
            </a:r>
            <a:br/>
            <a:r>
              <a:t>• [ ] Tests implémentés et passants</a:t>
            </a:r>
            <a:br/>
            <a:r>
              <a:t>• [ ] Documentation complète</a:t>
            </a:r>
            <a:br/>
            <a:r>
              <a:t>• [ ] Monitoring en place</a:t>
            </a:r>
            <a:br/>
            <a:r>
              <a:t>• [ ] Plan de déploiement défini</a:t>
            </a:r>
            <a:br/>
            <a:r>
              <a:t>• [ ] Plan de backup et recovery</a:t>
            </a:r>
            <a:br/>
            <a:r>
              <a:t>• [ ] Sécurité et conformité vérifiées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RESSOURCES ET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Apache Spark : spark.apache.org/docs/</a:t>
            </a:r>
            <a:br/>
            <a:r>
              <a:t>• Pandas : pandas.pydata.org/docs/</a:t>
            </a:r>
            <a:br/>
            <a:r>
              <a:t>• Apache Airflow : airflow.apache.org/docs/</a:t>
            </a:r>
            <a:br/>
            <a:r>
              <a:t>• dbt : docs.getdbt.com/</a:t>
            </a:r>
            <a:br/>
            <a:r>
              <a:t>• Stack Overflow</a:t>
            </a:r>
            <a:br/>
            <a:r>
              <a:t>• GitHub Discussions</a:t>
            </a:r>
            <a:br/>
            <a:r>
              <a:t>• Reddit (r/dataengineering, r/MachineLearning)</a:t>
            </a:r>
            <a:br/>
            <a:r>
              <a:t>• DataCamp</a:t>
            </a:r>
            <a:br/>
            <a:r>
              <a:t>• Coursera</a:t>
            </a:r>
            <a:br/>
            <a:r>
              <a:t>• Udacity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POINTS CLÉS 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**Pas de solution unique</a:t>
            </a:r>
            <a:br/>
            <a:r>
              <a:t>• Chaque contexte nécessite des outils adaptés</a:t>
            </a:r>
            <a:br/>
            <a:r>
              <a:t>• Évaluez vos besoins avant de choisir</a:t>
            </a:r>
            <a:br/>
            <a:r>
              <a:t>**Écosystème ouvert</a:t>
            </a:r>
            <a:br/>
            <a:r>
              <a:t>• Beaucoup d'outils open source de qualité</a:t>
            </a:r>
            <a:br/>
            <a:r>
              <a:t>• Gratuits et performants</a:t>
            </a:r>
            <a:br/>
            <a:r>
              <a:t>**Évolution rapide</a:t>
            </a:r>
            <a:br/>
            <a:r>
              <a:t>• Rester à jour avec les nouvelles technologies</a:t>
            </a:r>
            <a:br/>
            <a:r>
              <a:t>• Apprendre continuellement</a:t>
            </a:r>
            <a:br/>
            <a:r>
              <a:t>**Pratique essentielle</a:t>
            </a:r>
            <a:br/>
            <a:r>
              <a:t>• La théorie doit être complétée par la pratique</a:t>
            </a:r>
            <a:br/>
            <a:r>
              <a:t>• Expérimentez avec les outils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**Compléter les exercices pratiques</a:t>
            </a:r>
            <a:br/>
            <a:r>
              <a:t>• 7 exercices progressifs</a:t>
            </a:r>
            <a:br/>
            <a:r>
              <a:t>• Outils open source réels</a:t>
            </a:r>
            <a:br/>
            <a:r>
              <a:t>• Instructions détaillées</a:t>
            </a:r>
            <a:br/>
            <a:r>
              <a:t>**Expérimenter avec différents outils</a:t>
            </a:r>
            <a:br/>
            <a:r>
              <a:t>• Tester plusieurs solutions</a:t>
            </a:r>
            <a:br/>
            <a:r>
              <a:t>• Comparer les approches</a:t>
            </a:r>
            <a:br/>
            <a:r>
              <a:t>• Trouver vos préférences</a:t>
            </a:r>
            <a:br/>
            <a:r>
              <a:t>**Construire un projet complet</a:t>
            </a:r>
            <a:br/>
            <a:r>
              <a:t>• Intégrer plusieurs outils</a:t>
            </a:r>
            <a:br/>
            <a:r>
              <a:t>• Créer un pipeline end-to-end</a:t>
            </a:r>
            <a:br/>
            <a:r>
              <a:t>• Documenter votre travail</a:t>
            </a:r>
            <a:br/>
            <a:r>
              <a:t>**Partager et collaborer</a:t>
            </a:r>
            <a:br/>
            <a:r>
              <a:t>• Contribuer aux projets open source</a:t>
            </a:r>
            <a:br/>
            <a:r>
              <a:t>• Partager vos expériences</a:t>
            </a:r>
            <a:br/>
            <a:r>
              <a:t>• Apprendre de la communauté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EXERCICES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Business Intelligence open source</a:t>
            </a:r>
            <a:br/>
            <a:r>
              <a:t>• Création de dashboards</a:t>
            </a:r>
            <a:br/>
            <a:r>
              <a:t>• Self-Service BI</a:t>
            </a:r>
            <a:br/>
            <a:r>
              <a:t>• Questions interactives</a:t>
            </a:r>
            <a:br/>
            <a:r>
              <a:t>• Analyse de logs avec Kibana</a:t>
            </a:r>
            <a:br/>
            <a:r>
              <a:t>• Traitement Big Data</a:t>
            </a:r>
            <a:br/>
            <a:r>
              <a:t>• Monitoring complet</a:t>
            </a:r>
            <a:br/>
            <a:r>
              <a:t>• Orchestration de workflows</a:t>
            </a:r>
            <a:br/>
            <a:r>
              <a:t>• Transformation SQL moderne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COMMENT UTILISER CE DÉPÔT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**Consultez les slides</a:t>
            </a:r>
            <a:br/>
            <a:r>
              <a:t>• PowerPoint ou HTML</a:t>
            </a:r>
            <a:br/>
            <a:r>
              <a:t>• Comprenez les concepts</a:t>
            </a:r>
            <a:br/>
            <a:r>
              <a:t>**Faites les exercices dans l'ordre</a:t>
            </a:r>
            <a:br/>
            <a:r>
              <a:t>• Commencez par l'exercice 01</a:t>
            </a:r>
            <a:br/>
            <a:r>
              <a:t>• Suivez les instructions du README</a:t>
            </a:r>
            <a:br/>
            <a:r>
              <a:t>• Générez les données nécessaires</a:t>
            </a:r>
            <a:br/>
            <a:r>
              <a:t>**Soumettez vos solutions</a:t>
            </a:r>
            <a:br/>
            <a:r>
              <a:t>• Créez un dossier avec votre nom</a:t>
            </a:r>
            <a:br/>
            <a:r>
              <a:t>• Poussez sur GitHub</a:t>
            </a:r>
            <a:br/>
            <a:r>
              <a:t>• Suivez les instructions détaillées</a:t>
            </a:r>
            <a:br/>
            <a:r>
              <a:t>**Consultez les corrections</a:t>
            </a:r>
            <a:br/>
            <a:r>
              <a:t>• Après avoir essayé</a:t>
            </a:r>
            <a:br/>
            <a:r>
              <a:t>• Mot de passe : Abidexercice123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CONSEILS POUR RÉUSSIR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Travaillez régulièrement</a:t>
            </a:r>
            <a:br/>
            <a:r>
              <a:t>• Faites les exercices dans l'ordre</a:t>
            </a:r>
            <a:br/>
            <a:r>
              <a:t>• Prenez des notes</a:t>
            </a:r>
            <a:br/>
            <a:r>
              <a:t>• Testez chaque étape</a:t>
            </a:r>
            <a:br/>
            <a:r>
              <a:t>• Expérimentez avec les outils</a:t>
            </a:r>
            <a:br/>
            <a:r>
              <a:t>• Ne pas hésiter à essayer</a:t>
            </a:r>
            <a:br/>
            <a:r>
              <a:t>• Lisez les README attentivement</a:t>
            </a:r>
            <a:br/>
            <a:r>
              <a:t>• Consultez la documentation officielle</a:t>
            </a:r>
            <a:br/>
            <a:r>
              <a:t>• Cherchez dans les communautés</a:t>
            </a:r>
            <a:br/>
            <a:r>
              <a:t>• Les erreurs font partie de l'apprentissage</a:t>
            </a:r>
            <a:br/>
            <a:r>
              <a:t>• Demandez de l'aide si besoin</a:t>
            </a:r>
            <a:br/>
            <a:r>
              <a:t>• Continuez à pratiquer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Bon courage avec les exercices pratiques !</a:t>
            </a:r>
            <a:br/>
            <a:r>
              <a:t>N'hésitez pas à poser vos questions sur le dépôt GitHub.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Master 2 - Data Intelligence</a:t>
            </a:r>
          </a:p>
          <a:p>
            <a:r>
              <a:t>Outils de la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
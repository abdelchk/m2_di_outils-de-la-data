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OUTILS DE LA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Master 2 - Data Intelligence</a:t>
            </a:r>
          </a:p>
          <a:p>
            <a:r>
              <a:t>Formateur : Abid Hamza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INTRODUCTION AUX OUTILS DE LA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Pourquoi les outils de data sont essentiels ?</a:t>
            </a:r>
            <a:br/>
            <a:r>
              <a:t>Le monde moderne génère des quantités massives de données. Pour les exploiter efficacement, nous avons besoin d'outils spécialisés qui permettent de :</a:t>
            </a:r>
            <a:br/>
            <a:r>
              <a:t>• **Gérer le Volume** : Traiter des millions, voire des milliards d'enregistrements</a:t>
            </a:r>
            <a:br/>
            <a:r>
              <a:t>• **Gérer la Variété** : Traiter différents formats (structurés, semi-structurés, non structurés)</a:t>
            </a:r>
            <a:br/>
            <a:r>
              <a:t>• **Gérer la Vélocité** : Traiter les données en temps réel ou quasi temps réel</a:t>
            </a:r>
            <a:br/>
            <a:r>
              <a:t>• **Extraire la Valeur** : Transformer les données brutes en insights actionnables</a:t>
            </a:r>
            <a:br/>
            <a:r>
              <a:t>Les défis actuels</a:t>
            </a:r>
            <a:br/>
            <a:r>
              <a:t>Le pipeline de données typique suit cette séquence :</a:t>
            </a:r>
            <a:br/>
            <a:r>
              <a:t>```</a:t>
            </a:r>
            <a:br/>
            <a:r>
              <a:t>Données Brutes</a:t>
            </a:r>
            <a:br/>
            <a:r>
              <a:t>↓</a:t>
            </a:r>
            <a:br/>
            <a:r>
              <a:t>Collecte (APIs, fichiers, bases de données)</a:t>
            </a:r>
            <a:br/>
            <a:r>
              <a:t>↓</a:t>
            </a:r>
            <a:br/>
            <a:r>
              <a:t>Stockage (Data Warehouse, Data Lake)</a:t>
            </a:r>
            <a:br/>
            <a:r>
              <a:t>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ÉCOSYSTÈME DES OUTILS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Architecture typique d'un pipeline de données</a:t>
            </a:r>
            <a:br/>
            <a:r>
              <a:t>Un pipeline de données moderne suit généralement cette architecture :</a:t>
            </a:r>
            <a:br/>
            <a:r>
              <a:t>```</a:t>
            </a:r>
            <a:br/>
            <a:r>
              <a:t>┌─────────────────┐</a:t>
            </a:r>
            <a:br/>
            <a:r>
              <a:t>│  COLLECTE       │  Sources multiples (APIs, fichiers, bases de données)</a:t>
            </a:r>
            <a:br/>
            <a:r>
              <a:t>│  (Ingestion)     │</a:t>
            </a:r>
            <a:br/>
            <a:r>
              <a:t>└────────┬────────┘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┌─────────────────┐</a:t>
            </a:r>
            <a:br/>
            <a:r>
              <a:t>│  STOCKAGE        │  Data Warehouse, Data Lake, Bases de données</a:t>
            </a:r>
            <a:br/>
            <a:r>
              <a:t>└────────┬────────┘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OUTILS DE COLLECTE ET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Outils d'extraction Python</a:t>
            </a:r>
            <a:br/>
            <a:r>
              <a:t>Bibliothèques essentielles</a:t>
            </a:r>
            <a:br/>
            <a:r>
              <a:t>requests** : Pour les requêtes HTTP</a:t>
            </a:r>
            <a:br/>
            <a:r>
              <a:t>• Simple et intuitive</a:t>
            </a:r>
            <a:br/>
            <a:r>
              <a:t>• Support des APIs REST</a:t>
            </a:r>
            <a:br/>
            <a:r>
              <a:t>• Gestion des authentifications</a:t>
            </a:r>
            <a:br/>
            <a:r>
              <a:t>BeautifulSoup** : Pour le web scraping</a:t>
            </a:r>
            <a:br/>
            <a:r>
              <a:t>• Parsing HTML/XML</a:t>
            </a:r>
            <a:br/>
            <a:r>
              <a:t>• Extraction de données structurées</a:t>
            </a:r>
            <a:br/>
            <a:r>
              <a:t>• Facile à utiliser</a:t>
            </a:r>
            <a:br/>
            <a:r>
              <a:t>Scrapy** : Framework complet de scraping</a:t>
            </a:r>
            <a:br/>
            <a:r>
              <a:t>• Scraping à grande échelle</a:t>
            </a:r>
            <a:br/>
            <a:r>
              <a:t>• Gestion des robots.txt</a:t>
            </a:r>
            <a:br/>
            <a:r>
              <a:t>• Pipeline de traitement intégré</a:t>
            </a:r>
            <a:br/>
            <a:r>
              <a:t>pandas** : Manipulation de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Étape 1 : Extraction depuis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response = requests.get('https://api.example.com/data')</a:t>
            </a:r>
            <a:br/>
            <a:r>
              <a:t>data = response.json()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Étape 2 :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df = pd.DataFrame(data)</a:t>
            </a:r>
            <a:br/>
            <a:r>
              <a:t>df['date'] = pd.to_datetime(df['timestamp'])</a:t>
            </a:r>
            <a:br/>
            <a:r>
              <a:t>df['montant'] = df['prix'] * df['quantite']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Étape 3 : Chargement dans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engine = create_engine('postgresql://user:pass@localhost/db')</a:t>
            </a:r>
            <a:br/>
            <a:r>
              <a:t>df.to_sql('ventes', engine, if_exists='append', index=False)</a:t>
            </a:r>
            <a:br/>
            <a:r>
              <a:t>```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4. OUTILS DE STOCKAGE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Bases de données relationnelles</a:t>
            </a:r>
            <a:br/>
            <a:r>
              <a:t>PostgreSQL</a:t>
            </a:r>
            <a:br/>
            <a:r>
              <a:t>• Open source et robuste</a:t>
            </a:r>
            <a:br/>
            <a:r>
              <a:t>• Support avancé des types de données (JSON, arrays)</a:t>
            </a:r>
            <a:br/>
            <a:r>
              <a:t>• Extensions puissantes (PostGIS pour la géolocalisation)</a:t>
            </a:r>
            <a:br/>
            <a:r>
              <a:t>• Conformité ACID complète</a:t>
            </a:r>
            <a:br/>
            <a:r>
              <a:t>• Excellent pour les applications complexes</a:t>
            </a:r>
            <a:br/>
            <a:r>
              <a:t>MySQL / MariaDB</a:t>
            </a:r>
            <a:br/>
            <a:r>
              <a:t>• Très populaire dans le web</a:t>
            </a:r>
            <a:br/>
            <a:r>
              <a:t>• Performant pour les lectures</a:t>
            </a:r>
            <a:br/>
            <a:r>
              <a:t>• Facile à administrer</a:t>
            </a:r>
            <a:br/>
            <a:r>
              <a:t>• Large communauté</a:t>
            </a:r>
            <a:br/>
            <a:r>
              <a:t>• Bon choix pour les applications web classiques</a:t>
            </a:r>
            <a:br/>
            <a:r>
              <a:t>SQL Server</a:t>
            </a:r>
            <a:br/>
            <a:r>
              <a:t>• Solution Microsoft complète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5. OUTILS DE TRAITEMENT ET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Traitement par lots (Batch Processing)</a:t>
            </a:r>
            <a:br/>
            <a:r>
              <a:t>Apache Spark</a:t>
            </a:r>
            <a:br/>
            <a:r>
              <a:t>• Traitement distribué à grande échelle</a:t>
            </a:r>
            <a:br/>
            <a:r>
              <a:t>• Support Python, Scala, Java, R</a:t>
            </a:r>
            <a:br/>
            <a:r>
              <a:t>• MLlib pour le machine learning</a:t>
            </a:r>
            <a:br/>
            <a:r>
              <a:t>• GraphX pour le traitement de graphes</a:t>
            </a:r>
            <a:br/>
            <a:r>
              <a:t>• Streaming intégré (Spark Streaming)</a:t>
            </a:r>
            <a:br/>
            <a:r>
              <a:t>• Très performant sur gros volumes</a:t>
            </a:r>
            <a:br/>
            <a:r>
              <a:t>Pandas</a:t>
            </a:r>
            <a:br/>
            <a:r>
              <a:t>• Bibliothèque Python standard</a:t>
            </a:r>
            <a:br/>
            <a:r>
              <a:t>• Manipulation de données intuitive</a:t>
            </a:r>
            <a:br/>
            <a:r>
              <a:t>• Nombreuses fonctions intégrées</a:t>
            </a:r>
            <a:br/>
            <a:r>
              <a:t>• Limité par la mémoire RAM</a:t>
            </a:r>
            <a:br/>
            <a:r>
              <a:t>• Excellent pour données &lt; 10GB</a:t>
            </a:r>
            <a:br/>
            <a:r>
              <a:t>Dask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6. OUTILS D'ANALYSE ET VISUALISATION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Business Intelligence (BI) commercial</a:t>
            </a:r>
            <a:br/>
            <a:r>
              <a:t>Tableau</a:t>
            </a:r>
            <a:br/>
            <a:r>
              <a:t>• Visualisations avancées et esthétiques</a:t>
            </a:r>
            <a:br/>
            <a:r>
              <a:t>• Dashboards interactifs</a:t>
            </a:r>
            <a:br/>
            <a:r>
              <a:t>• Connecteurs multiples</a:t>
            </a:r>
            <a:br/>
            <a:r>
              <a:t>• Self-service BI</a:t>
            </a:r>
            <a:br/>
            <a:r>
              <a:t>• Leader du marché</a:t>
            </a:r>
            <a:br/>
            <a:r>
              <a:t>Power BI (Microsoft)</a:t>
            </a:r>
            <a:br/>
            <a:r>
              <a:t>• Intégration Office 365</a:t>
            </a:r>
            <a:br/>
            <a:r>
              <a:t>• Self-service BI</a:t>
            </a:r>
            <a:br/>
            <a:r>
              <a:t>• Cloud et on-premise</a:t>
            </a:r>
            <a:br/>
            <a:r>
              <a:t>• Prix compétitif</a:t>
            </a:r>
            <a:br/>
            <a:r>
              <a:t>• Large adoption</a:t>
            </a:r>
            <a:br/>
            <a:r>
              <a:t>Looker (Google)</a:t>
            </a:r>
            <a:br/>
            <a:r>
              <a:t>• Modélisation de données moderne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7. OUTILS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Frameworks ML principaux</a:t>
            </a:r>
            <a:br/>
            <a:r>
              <a:t>Scikit-learn</a:t>
            </a:r>
            <a:br/>
            <a:r>
              <a:t>• Machine learning Python</a:t>
            </a:r>
            <a:br/>
            <a:r>
              <a:t>• Algorithmes classiques complets</a:t>
            </a:r>
            <a:br/>
            <a:r>
              <a:t>• Interface uniforme</a:t>
            </a:r>
            <a:br/>
            <a:r>
              <a:t>• Facile à utiliser</a:t>
            </a:r>
            <a:br/>
            <a:r>
              <a:t>• Documentation excellente</a:t>
            </a:r>
            <a:br/>
            <a:r>
              <a:t>• Standard pour le ML classique</a:t>
            </a:r>
            <a:br/>
            <a:r>
              <a:t>TensorFlow (Google)</a:t>
            </a:r>
            <a:br/>
            <a:r>
              <a:t>• Deep learning avancé</a:t>
            </a:r>
            <a:br/>
            <a:r>
              <a:t>• Production-ready</a:t>
            </a:r>
            <a:br/>
            <a:r>
              <a:t>• TensorBoard pour visualisation</a:t>
            </a:r>
            <a:br/>
            <a:r>
              <a:t>• Support mobile (TensorFlow Lite)</a:t>
            </a:r>
            <a:br/>
            <a:r>
              <a:t>• Large communauté</a:t>
            </a:r>
            <a:br/>
            <a:r>
              <a:t>• Utilisé par Google en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8. OUTILS DE DÉPLOIEMENT ET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Orchestration de workflows</a:t>
            </a:r>
            <a:br/>
            <a:r>
              <a:t>Apache Airflow</a:t>
            </a:r>
            <a:br/>
            <a:r>
              <a:t>• DAGs (Directed Acyclic Graphs)</a:t>
            </a:r>
            <a:br/>
            <a:r>
              <a:t>• Scheduling flexible</a:t>
            </a:r>
            <a:br/>
            <a:r>
              <a:t>• Monitoring intégré</a:t>
            </a:r>
            <a:br/>
            <a:r>
              <a:t>• Extensible avec plugins</a:t>
            </a:r>
            <a:br/>
            <a:r>
              <a:t>• Interface web complète</a:t>
            </a:r>
            <a:br/>
            <a:r>
              <a:t>• Standard de l'industrie</a:t>
            </a:r>
            <a:br/>
            <a:r>
              <a:t>Prefect</a:t>
            </a:r>
            <a:br/>
            <a:r>
              <a:t>• Workflow moderne</a:t>
            </a:r>
            <a:br/>
            <a:r>
              <a:t>• Python-native</a:t>
            </a:r>
            <a:br/>
            <a:r>
              <a:t>• Monitoring intégré</a:t>
            </a:r>
            <a:br/>
            <a:r>
              <a:t>• Gestion d'erreurs avancée</a:t>
            </a:r>
            <a:br/>
            <a:r>
              <a:t>• Alternative moderne à Airflow</a:t>
            </a:r>
            <a:br/>
            <a:r>
              <a:t>Dagster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9. CHOIX DES OUTILS SELON LE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Critères de sélection</a:t>
            </a:r>
            <a:br/>
            <a:r>
              <a:t>Volume de données</a:t>
            </a:r>
            <a:br/>
            <a:r>
              <a:t>Petit volume (&lt; 1GB)</a:t>
            </a:r>
            <a:br/>
            <a:r>
              <a:t>• Pandas pour le traitement</a:t>
            </a:r>
            <a:br/>
            <a:r>
              <a:t>• SQLite pour le stockage</a:t>
            </a:r>
            <a:br/>
            <a:r>
              <a:t>• Jupyter pour l'analyse</a:t>
            </a:r>
            <a:br/>
            <a:r>
              <a:t>• Pas besoin de distribution</a:t>
            </a:r>
            <a:br/>
            <a:r>
              <a:t>Volume moyen (1GB - 1TB)</a:t>
            </a:r>
            <a:br/>
            <a:r>
              <a:t>• PostgreSQL/MySQL pour le stockage</a:t>
            </a:r>
            <a:br/>
            <a:r>
              <a:t>• Pandas ou Dask pour le traitement</a:t>
            </a:r>
            <a:br/>
            <a:r>
              <a:t>• Outils BI légers (Metabase, Superset)</a:t>
            </a:r>
            <a:br/>
            <a:r>
              <a:t>Grand volume (&gt; 1TB)</a:t>
            </a:r>
            <a:br/>
            <a:r>
              <a:t>• Spark pour le traitement</a:t>
            </a:r>
            <a:br/>
            <a:r>
              <a:t>• Data Warehouse (Snowflake, BigQuery)</a:t>
            </a:r>
            <a:br/>
            <a:r>
              <a:t>• Outils distribués nécessaires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10. BONNES PRATIQUES ET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Bonnes pratiques générales</a:t>
            </a:r>
            <a:br/>
            <a:r>
              <a:t>Versioning</a:t>
            </a:r>
            <a:br/>
            <a:r>
              <a:t>Code</a:t>
            </a:r>
            <a:br/>
            <a:r>
              <a:t>• Utiliser Git pour le versioning</a:t>
            </a:r>
            <a:br/>
            <a:r>
              <a:t>• Branches pour les features</a:t>
            </a:r>
            <a:br/>
            <a:r>
              <a:t>• Commits descriptifs</a:t>
            </a:r>
            <a:br/>
            <a:r>
              <a:t>• Pull requests pour les reviews</a:t>
            </a:r>
            <a:br/>
            <a:r>
              <a:t>Données</a:t>
            </a:r>
            <a:br/>
            <a:r>
              <a:t>• DVC (Data Version Control) pour les datasets</a:t>
            </a:r>
            <a:br/>
            <a:r>
              <a:t>• Snapshot des données importantes</a:t>
            </a:r>
            <a:br/>
            <a:r>
              <a:t>• Traçabilité des versions</a:t>
            </a:r>
            <a:br/>
            <a:r>
              <a:t>Modèles</a:t>
            </a:r>
            <a:br/>
            <a:r>
              <a:t>• MLflow pour le versioning des modèles</a:t>
            </a:r>
            <a:br/>
            <a:r>
              <a:t>• Tags et métadonnées</a:t>
            </a:r>
            <a:br/>
            <a:r>
              <a:t>• Reproducibilité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Master 2 - Data Intelligence</a:t>
            </a:r>
            <a:br/>
            <a:r>
              <a:t>Outils de la Data</a:t>
            </a:r>
            <a:br/>
            <a:r>
              <a:t>*Bon courage pour les exercices pratiques !*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Master 2 - Data Intelligence</a:t>
            </a:r>
          </a:p>
          <a:p>
            <a:r>
              <a:t>Outils de la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